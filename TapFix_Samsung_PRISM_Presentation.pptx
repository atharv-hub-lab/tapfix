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9" d="100"/>
          <a:sy n="59" d="100"/>
        </p:scale>
        <p:origin x="9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28-09-2026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28-09-2026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defRPr sz="1500" b="1">
                <a:solidFill>
                  <a:srgbClr val="232837"/>
                </a:solidFill>
                <a:latin typeface="Aptos"/>
              </a:defRPr>
            </a:pPr>
            <a:r>
              <a:rPr dirty="0"/>
              <a:t>Theme ID - Theme 02 — Smart Guided Troubleshooting Engine</a:t>
            </a:r>
          </a:p>
          <a:p>
            <a:pPr>
              <a:spcAft>
                <a:spcPts val="500"/>
              </a:spcAft>
              <a:defRPr sz="1400" b="0">
                <a:solidFill>
                  <a:srgbClr val="232837"/>
                </a:solidFill>
                <a:latin typeface="Aptos"/>
              </a:defRPr>
            </a:pPr>
            <a:r>
              <a:rPr dirty="0"/>
              <a:t>Team Name - 404 Found</a:t>
            </a:r>
          </a:p>
          <a:p>
            <a:pPr>
              <a:spcAft>
                <a:spcPts val="500"/>
              </a:spcAft>
              <a:defRPr sz="1400" b="0">
                <a:solidFill>
                  <a:srgbClr val="232837"/>
                </a:solidFill>
                <a:latin typeface="Aptos"/>
              </a:defRPr>
            </a:pPr>
            <a:r>
              <a:rPr dirty="0"/>
              <a:t>College Name - MS Ramaiah Institute of Technology (MSRIT), Bengaluru</a:t>
            </a:r>
          </a:p>
          <a:p>
            <a:pPr>
              <a:spcAft>
                <a:spcPts val="500"/>
              </a:spcAft>
              <a:defRPr sz="1400" b="0">
                <a:solidFill>
                  <a:srgbClr val="232837"/>
                </a:solidFill>
                <a:latin typeface="Aptos"/>
              </a:defRPr>
            </a:pPr>
            <a:r>
              <a:rPr dirty="0"/>
              <a:t>Member Name &amp; Email 1 - Atharv Mishra | mishraatharv82@gmail.com</a:t>
            </a:r>
          </a:p>
          <a:p>
            <a:pPr>
              <a:spcAft>
                <a:spcPts val="500"/>
              </a:spcAft>
              <a:defRPr sz="1400" b="0">
                <a:solidFill>
                  <a:srgbClr val="232837"/>
                </a:solidFill>
                <a:latin typeface="Aptos"/>
              </a:defRPr>
            </a:pPr>
            <a:r>
              <a:rPr dirty="0"/>
              <a:t>Member Name &amp; Email 2 - Revanth Reddy | revanthreddyv9@gmail.com</a:t>
            </a:r>
          </a:p>
          <a:p>
            <a:pPr>
              <a:spcAft>
                <a:spcPts val="500"/>
              </a:spcAft>
              <a:defRPr sz="1400" b="0">
                <a:solidFill>
                  <a:srgbClr val="232837"/>
                </a:solidFill>
                <a:latin typeface="Aptos"/>
              </a:defRPr>
            </a:pPr>
            <a:r>
              <a:rPr dirty="0"/>
              <a:t>Submission </a:t>
            </a:r>
            <a:r>
              <a:rPr dirty="0" err="1"/>
              <a:t>Github</a:t>
            </a:r>
            <a:r>
              <a:rPr dirty="0"/>
              <a:t> link - github.com/Atharv-hub-lab/</a:t>
            </a:r>
            <a:r>
              <a:rPr dirty="0" err="1"/>
              <a:t>tapfix</a:t>
            </a:r>
            <a:endParaRPr dirty="0"/>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t>Theme</a:t>
            </a:r>
          </a:p>
        </p:txBody>
      </p:sp>
      <p:sp>
        <p:nvSpPr>
          <p:cNvPr id="3" name="Rounded Rectangle 2"/>
          <p:cNvSpPr/>
          <p:nvPr/>
        </p:nvSpPr>
        <p:spPr>
          <a:xfrm>
            <a:off x="685800" y="1828800"/>
            <a:ext cx="3429000" cy="406908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Vague Consumer Complaints</a:t>
            </a:r>
          </a:p>
          <a:p>
            <a:pPr>
              <a:spcBef>
                <a:spcPts val="500"/>
              </a:spcBef>
              <a:defRPr sz="1300">
                <a:solidFill>
                  <a:srgbClr val="232837"/>
                </a:solidFill>
                <a:latin typeface="Aptos"/>
              </a:defRPr>
            </a:pPr>
            <a:r>
              <a:t>• Colloquial inputs such as “battery dies fast” or “swipe gestures wrong way”.</a:t>
            </a:r>
          </a:p>
          <a:p>
            <a:pPr>
              <a:spcBef>
                <a:spcPts val="500"/>
              </a:spcBef>
              <a:defRPr sz="1300">
                <a:solidFill>
                  <a:srgbClr val="232837"/>
                </a:solidFill>
                <a:latin typeface="Aptos"/>
              </a:defRPr>
            </a:pPr>
            <a:r>
              <a:t>• Manual resolution across unstructured SIIS text creates a support bottleneck.</a:t>
            </a:r>
          </a:p>
          <a:p>
            <a:pPr>
              <a:spcBef>
                <a:spcPts val="500"/>
              </a:spcBef>
              <a:defRPr sz="1300">
                <a:solidFill>
                  <a:srgbClr val="232837"/>
                </a:solidFill>
                <a:latin typeface="Aptos"/>
              </a:defRPr>
            </a:pPr>
            <a:r>
              <a:t>• Users must be guided through nested Settings paths.</a:t>
            </a:r>
          </a:p>
        </p:txBody>
      </p:sp>
      <p:sp>
        <p:nvSpPr>
          <p:cNvPr id="4" name="Rounded Rectangle 3"/>
          <p:cNvSpPr/>
          <p:nvPr/>
        </p:nvSpPr>
        <p:spPr>
          <a:xfrm>
            <a:off x="4251960" y="1828800"/>
            <a:ext cx="3429000" cy="406908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6F2DBE"/>
                </a:solidFill>
                <a:latin typeface="Aptos"/>
              </a:defRPr>
            </a:pPr>
            <a:r>
              <a:t>Grounded Troubleshooting</a:t>
            </a:r>
          </a:p>
          <a:p>
            <a:pPr>
              <a:spcBef>
                <a:spcPts val="500"/>
              </a:spcBef>
              <a:defRPr sz="1300">
                <a:solidFill>
                  <a:srgbClr val="232837"/>
                </a:solidFill>
                <a:latin typeface="Aptos"/>
              </a:defRPr>
            </a:pPr>
            <a:r>
              <a:t>• Convert colloquial complaints into structured multi-step plans.</a:t>
            </a:r>
          </a:p>
          <a:p>
            <a:pPr>
              <a:spcBef>
                <a:spcPts val="500"/>
              </a:spcBef>
              <a:defRPr sz="1300">
                <a:solidFill>
                  <a:srgbClr val="232837"/>
                </a:solidFill>
                <a:latin typeface="Aptos"/>
              </a:defRPr>
            </a:pPr>
            <a:r>
              <a:t>• Keep troubleshooting grounded in supplied SIIS reference material.</a:t>
            </a:r>
          </a:p>
          <a:p>
            <a:pPr>
              <a:spcBef>
                <a:spcPts val="500"/>
              </a:spcBef>
              <a:defRPr sz="1300">
                <a:solidFill>
                  <a:srgbClr val="232837"/>
                </a:solidFill>
                <a:latin typeface="Aptos"/>
              </a:defRPr>
            </a:pPr>
            <a:r>
              <a:t>• Apply ordering and validation before returning actions.</a:t>
            </a:r>
          </a:p>
        </p:txBody>
      </p:sp>
      <p:sp>
        <p:nvSpPr>
          <p:cNvPr id="5" name="Rounded Rectangle 4"/>
          <p:cNvSpPr/>
          <p:nvPr/>
        </p:nvSpPr>
        <p:spPr>
          <a:xfrm>
            <a:off x="7818120" y="1828800"/>
            <a:ext cx="3429000" cy="406908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In-App Deeplinks &amp; Targets</a:t>
            </a:r>
          </a:p>
          <a:p>
            <a:pPr>
              <a:spcBef>
                <a:spcPts val="500"/>
              </a:spcBef>
              <a:defRPr sz="1300">
                <a:solidFill>
                  <a:srgbClr val="232837"/>
                </a:solidFill>
                <a:latin typeface="Aptos"/>
              </a:defRPr>
            </a:pPr>
            <a:r>
              <a:t>• Map supported screens to cataloged bixby:// deeplinks.</a:t>
            </a:r>
          </a:p>
          <a:p>
            <a:pPr>
              <a:spcBef>
                <a:spcPts val="500"/>
              </a:spcBef>
              <a:defRPr sz="1300">
                <a:solidFill>
                  <a:srgbClr val="232837"/>
                </a:solidFill>
                <a:latin typeface="Aptos"/>
              </a:defRPr>
            </a:pPr>
            <a:r>
              <a:t>• Reduce manual Settings navigation through direct in-app targets.</a:t>
            </a:r>
          </a:p>
          <a:p>
            <a:pPr>
              <a:spcBef>
                <a:spcPts val="500"/>
              </a:spcBef>
              <a:defRPr sz="1300">
                <a:solidFill>
                  <a:srgbClr val="232837"/>
                </a:solidFill>
                <a:latin typeface="Aptos"/>
              </a:defRPr>
            </a:pPr>
            <a:r>
              <a:t>• Fast-path specification target: &lt;300 ms for cached queries.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t>Existing Solutions &amp; Gaps</a:t>
            </a:r>
          </a:p>
        </p:txBody>
      </p:sp>
      <p:sp>
        <p:nvSpPr>
          <p:cNvPr id="3" name="Rounded Rectangle 2"/>
          <p:cNvSpPr/>
          <p:nvPr/>
        </p:nvSpPr>
        <p:spPr>
          <a:xfrm>
            <a:off x="685800" y="1828800"/>
            <a:ext cx="10424160" cy="1051560"/>
          </a:xfrm>
          <a:prstGeom prst="roundRect">
            <a:avLst/>
          </a:prstGeom>
          <a:solidFill>
            <a:srgbClr val="EFF1F9"/>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TRADITIONAL MANUAL TROUBLESHOOTING WORKFLOW</a:t>
            </a:r>
          </a:p>
          <a:p>
            <a:pPr>
              <a:spcBef>
                <a:spcPts val="500"/>
              </a:spcBef>
              <a:defRPr sz="1300">
                <a:solidFill>
                  <a:srgbClr val="232837"/>
                </a:solidFill>
                <a:latin typeface="Aptos"/>
              </a:defRPr>
            </a:pPr>
            <a:r>
              <a:t>Customer query  →  Agent searches SIIS  →  Manual step extraction  →  Agent dictates directions  →  User navigates Settings</a:t>
            </a:r>
          </a:p>
        </p:txBody>
      </p:sp>
      <p:sp>
        <p:nvSpPr>
          <p:cNvPr id="4" name="Rounded Rectangle 3"/>
          <p:cNvSpPr/>
          <p:nvPr/>
        </p:nvSpPr>
        <p:spPr>
          <a:xfrm>
            <a:off x="685800" y="3154680"/>
            <a:ext cx="5029200" cy="11887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CD4146"/>
                </a:solidFill>
                <a:latin typeface="Aptos"/>
              </a:defRPr>
            </a:pPr>
            <a:r>
              <a:t>1. Vague Phrasing Mismatch</a:t>
            </a:r>
          </a:p>
          <a:p>
            <a:pPr>
              <a:spcBef>
                <a:spcPts val="500"/>
              </a:spcBef>
              <a:defRPr sz="1150">
                <a:solidFill>
                  <a:srgbClr val="232837"/>
                </a:solidFill>
                <a:latin typeface="Aptos"/>
              </a:defRPr>
            </a:pPr>
            <a:r>
              <a:t>Colloquial wording can miss formal technical terminology and return weak or empty retrieval results.</a:t>
            </a:r>
          </a:p>
        </p:txBody>
      </p:sp>
      <p:sp>
        <p:nvSpPr>
          <p:cNvPr id="5" name="Rounded Rectangle 4"/>
          <p:cNvSpPr/>
          <p:nvPr/>
        </p:nvSpPr>
        <p:spPr>
          <a:xfrm>
            <a:off x="6080760" y="3154680"/>
            <a:ext cx="5029200" cy="11887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CD4146"/>
                </a:solidFill>
                <a:latin typeface="Aptos"/>
              </a:defRPr>
            </a:pPr>
            <a:r>
              <a:t>2. Irrelevant / Ungrounded Retrieval</a:t>
            </a:r>
          </a:p>
          <a:p>
            <a:pPr>
              <a:spcBef>
                <a:spcPts val="500"/>
              </a:spcBef>
              <a:defRPr sz="1150">
                <a:solidFill>
                  <a:srgbClr val="232837"/>
                </a:solidFill>
                <a:latin typeface="Aptos"/>
              </a:defRPr>
            </a:pPr>
            <a:r>
              <a:t>Unconstrained generation can produce guidance outside the supplied Samsung SIIS reference context.</a:t>
            </a:r>
          </a:p>
        </p:txBody>
      </p:sp>
      <p:sp>
        <p:nvSpPr>
          <p:cNvPr id="6" name="Rounded Rectangle 5"/>
          <p:cNvSpPr/>
          <p:nvPr/>
        </p:nvSpPr>
        <p:spPr>
          <a:xfrm>
            <a:off x="685800" y="4572000"/>
            <a:ext cx="5029200" cy="11887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CD4146"/>
                </a:solidFill>
                <a:latin typeface="Aptos"/>
              </a:defRPr>
            </a:pPr>
            <a:r>
              <a:t>3. Hallucinated Actions &amp; Web URLs</a:t>
            </a:r>
          </a:p>
          <a:p>
            <a:pPr>
              <a:spcBef>
                <a:spcPts val="500"/>
              </a:spcBef>
              <a:defRPr sz="1150">
                <a:solidFill>
                  <a:srgbClr val="232837"/>
                </a:solidFill>
                <a:latin typeface="Aptos"/>
              </a:defRPr>
            </a:pPr>
            <a:r>
              <a:t>An unconstrained model can invent settings options or return web URLs that are outside the required in-app action space.</a:t>
            </a:r>
          </a:p>
        </p:txBody>
      </p:sp>
      <p:sp>
        <p:nvSpPr>
          <p:cNvPr id="7" name="Rounded Rectangle 6"/>
          <p:cNvSpPr/>
          <p:nvPr/>
        </p:nvSpPr>
        <p:spPr>
          <a:xfrm>
            <a:off x="6080760" y="4572000"/>
            <a:ext cx="5029200" cy="11887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CD4146"/>
                </a:solidFill>
                <a:latin typeface="Aptos"/>
              </a:defRPr>
            </a:pPr>
            <a:r>
              <a:t>4. Unsafe Action Sequencing</a:t>
            </a:r>
          </a:p>
          <a:p>
            <a:pPr>
              <a:spcBef>
                <a:spcPts val="500"/>
              </a:spcBef>
              <a:defRPr sz="1150">
                <a:solidFill>
                  <a:srgbClr val="232837"/>
                </a:solidFill>
                <a:latin typeface="Aptos"/>
              </a:defRPr>
            </a:pPr>
            <a:r>
              <a:t>Troubleshooting needs validation and ordering so available non-invasive actions are handled before more critical steps.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t>Our Solutions &amp; Architecture Diagram</a:t>
            </a:r>
          </a:p>
        </p:txBody>
      </p:sp>
      <p:sp>
        <p:nvSpPr>
          <p:cNvPr id="3" name="TextBox 2"/>
          <p:cNvSpPr txBox="1"/>
          <p:nvPr/>
        </p:nvSpPr>
        <p:spPr>
          <a:xfrm>
            <a:off x="685800" y="1691640"/>
            <a:ext cx="10424160" cy="438912"/>
          </a:xfrm>
          <a:prstGeom prst="rect">
            <a:avLst/>
          </a:prstGeom>
          <a:solidFill>
            <a:srgbClr val="394CBE"/>
          </a:solidFill>
          <a:ln>
            <a:noFill/>
          </a:ln>
        </p:spPr>
        <p:txBody>
          <a:bodyPr wrap="square" lIns="109728" tIns="73152" rIns="109728" bIns="73152" anchor="t">
            <a:spAutoFit/>
          </a:bodyPr>
          <a:lstStyle/>
          <a:p>
            <a:pPr algn="ctr">
              <a:defRPr sz="1500" b="1">
                <a:solidFill>
                  <a:srgbClr val="FFFFFF"/>
                </a:solidFill>
                <a:latin typeface="Aptos"/>
              </a:defRPr>
            </a:pPr>
            <a:r>
              <a:t>CORE PHILOSOPHY: “Generate useful structure, but keep the action space strictly grounded.”</a:t>
            </a:r>
          </a:p>
        </p:txBody>
      </p:sp>
      <p:sp>
        <p:nvSpPr>
          <p:cNvPr id="4" name="Rounded Rectangle 3"/>
          <p:cNvSpPr/>
          <p:nvPr/>
        </p:nvSpPr>
        <p:spPr>
          <a:xfrm>
            <a:off x="594360"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Query Enrichment</a:t>
            </a:r>
          </a:p>
          <a:p>
            <a:pPr>
              <a:spcBef>
                <a:spcPts val="500"/>
              </a:spcBef>
              <a:defRPr sz="1100">
                <a:solidFill>
                  <a:srgbClr val="232837"/>
                </a:solidFill>
                <a:latin typeface="Aptos"/>
              </a:defRPr>
            </a:pPr>
            <a:r>
              <a:t>Normalizes colloquial text and creates a canonical cache key.</a:t>
            </a:r>
          </a:p>
        </p:txBody>
      </p:sp>
      <p:sp>
        <p:nvSpPr>
          <p:cNvPr id="5" name="TextBox 4"/>
          <p:cNvSpPr txBox="1"/>
          <p:nvPr/>
        </p:nvSpPr>
        <p:spPr>
          <a:xfrm>
            <a:off x="667512"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0</a:t>
            </a:r>
          </a:p>
        </p:txBody>
      </p:sp>
      <p:sp>
        <p:nvSpPr>
          <p:cNvPr id="6" name="Rounded Rectangle 5"/>
          <p:cNvSpPr/>
          <p:nvPr/>
        </p:nvSpPr>
        <p:spPr>
          <a:xfrm>
            <a:off x="2395728"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BM25 Retrieval</a:t>
            </a:r>
          </a:p>
          <a:p>
            <a:pPr>
              <a:spcBef>
                <a:spcPts val="500"/>
              </a:spcBef>
              <a:defRPr sz="1100">
                <a:solidFill>
                  <a:srgbClr val="232837"/>
                </a:solidFill>
                <a:latin typeface="Aptos"/>
              </a:defRPr>
            </a:pPr>
            <a:r>
              <a:t>Lexically retrieves against the SIIS reference corpus.</a:t>
            </a:r>
          </a:p>
        </p:txBody>
      </p:sp>
      <p:sp>
        <p:nvSpPr>
          <p:cNvPr id="7" name="TextBox 6"/>
          <p:cNvSpPr txBox="1"/>
          <p:nvPr/>
        </p:nvSpPr>
        <p:spPr>
          <a:xfrm>
            <a:off x="2468880"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1</a:t>
            </a:r>
          </a:p>
        </p:txBody>
      </p:sp>
      <p:sp>
        <p:nvSpPr>
          <p:cNvPr id="8" name="Rounded Rectangle 7"/>
          <p:cNvSpPr/>
          <p:nvPr/>
        </p:nvSpPr>
        <p:spPr>
          <a:xfrm>
            <a:off x="4197096"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Candidate Filtering</a:t>
            </a:r>
          </a:p>
          <a:p>
            <a:pPr>
              <a:spcBef>
                <a:spcPts val="500"/>
              </a:spcBef>
              <a:defRPr sz="1100">
                <a:solidFill>
                  <a:srgbClr val="232837"/>
                </a:solidFill>
                <a:latin typeface="Aptos"/>
              </a:defRPr>
            </a:pPr>
            <a:r>
              <a:t>Applies direction, relevance and closed-world candidate checks.</a:t>
            </a:r>
          </a:p>
        </p:txBody>
      </p:sp>
      <p:sp>
        <p:nvSpPr>
          <p:cNvPr id="9" name="TextBox 8"/>
          <p:cNvSpPr txBox="1"/>
          <p:nvPr/>
        </p:nvSpPr>
        <p:spPr>
          <a:xfrm>
            <a:off x="4270248"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2</a:t>
            </a:r>
          </a:p>
        </p:txBody>
      </p:sp>
      <p:sp>
        <p:nvSpPr>
          <p:cNvPr id="10" name="Rounded Rectangle 9"/>
          <p:cNvSpPr/>
          <p:nvPr/>
        </p:nvSpPr>
        <p:spPr>
          <a:xfrm>
            <a:off x="5998464"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LLM Structuring</a:t>
            </a:r>
          </a:p>
          <a:p>
            <a:pPr>
              <a:spcBef>
                <a:spcPts val="500"/>
              </a:spcBef>
              <a:defRPr sz="1100">
                <a:solidFill>
                  <a:srgbClr val="232837"/>
                </a:solidFill>
                <a:latin typeface="Aptos"/>
              </a:defRPr>
            </a:pPr>
            <a:r>
              <a:t>Converts grounded content into the Pydantic schema.</a:t>
            </a:r>
          </a:p>
        </p:txBody>
      </p:sp>
      <p:sp>
        <p:nvSpPr>
          <p:cNvPr id="11" name="TextBox 10"/>
          <p:cNvSpPr txBox="1"/>
          <p:nvPr/>
        </p:nvSpPr>
        <p:spPr>
          <a:xfrm>
            <a:off x="6071616"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3</a:t>
            </a:r>
          </a:p>
        </p:txBody>
      </p:sp>
      <p:sp>
        <p:nvSpPr>
          <p:cNvPr id="12" name="Rounded Rectangle 11"/>
          <p:cNvSpPr/>
          <p:nvPr/>
        </p:nvSpPr>
        <p:spPr>
          <a:xfrm>
            <a:off x="7799831"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Deeplink Mapping</a:t>
            </a:r>
          </a:p>
          <a:p>
            <a:pPr>
              <a:spcBef>
                <a:spcPts val="500"/>
              </a:spcBef>
              <a:defRPr sz="1100">
                <a:solidFill>
                  <a:srgbClr val="232837"/>
                </a:solidFill>
                <a:latin typeface="Aptos"/>
              </a:defRPr>
            </a:pPr>
            <a:r>
              <a:t>Copies supported bixby:// targets from the catalog.</a:t>
            </a:r>
          </a:p>
        </p:txBody>
      </p:sp>
      <p:sp>
        <p:nvSpPr>
          <p:cNvPr id="13" name="TextBox 12"/>
          <p:cNvSpPr txBox="1"/>
          <p:nvPr/>
        </p:nvSpPr>
        <p:spPr>
          <a:xfrm>
            <a:off x="7872983"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4</a:t>
            </a:r>
          </a:p>
        </p:txBody>
      </p:sp>
      <p:sp>
        <p:nvSpPr>
          <p:cNvPr id="14" name="Rounded Rectangle 13"/>
          <p:cNvSpPr/>
          <p:nvPr/>
        </p:nvSpPr>
        <p:spPr>
          <a:xfrm>
            <a:off x="9601200" y="2423160"/>
            <a:ext cx="1600200" cy="32461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Safe Fallback</a:t>
            </a:r>
          </a:p>
          <a:p>
            <a:pPr>
              <a:spcBef>
                <a:spcPts val="500"/>
              </a:spcBef>
              <a:defRPr sz="1100">
                <a:solidFill>
                  <a:srgbClr val="232837"/>
                </a:solidFill>
                <a:latin typeface="Aptos"/>
              </a:defRPr>
            </a:pPr>
            <a:r>
              <a:t>Returns validated JSON and rejects unsupported output.</a:t>
            </a:r>
          </a:p>
        </p:txBody>
      </p:sp>
      <p:sp>
        <p:nvSpPr>
          <p:cNvPr id="15" name="TextBox 14"/>
          <p:cNvSpPr txBox="1"/>
          <p:nvPr/>
        </p:nvSpPr>
        <p:spPr>
          <a:xfrm>
            <a:off x="9674352" y="2542032"/>
            <a:ext cx="1444752" cy="256032"/>
          </a:xfrm>
          <a:prstGeom prst="rect">
            <a:avLst/>
          </a:prstGeom>
          <a:noFill/>
          <a:ln>
            <a:noFill/>
          </a:ln>
        </p:spPr>
        <p:txBody>
          <a:bodyPr wrap="square" lIns="109728" tIns="73152" rIns="109728" bIns="73152" anchor="t">
            <a:spAutoFit/>
          </a:bodyPr>
          <a:lstStyle/>
          <a:p>
            <a:pPr algn="ctr">
              <a:defRPr sz="1000" b="1">
                <a:solidFill>
                  <a:srgbClr val="28A5A5"/>
                </a:solidFill>
                <a:latin typeface="Aptos"/>
              </a:defRPr>
            </a:pPr>
            <a:r>
              <a:t>PHASE 5</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Demo &amp; Product Walkthrough</a:t>
            </a:r>
          </a:p>
        </p:txBody>
      </p:sp>
      <p:sp>
        <p:nvSpPr>
          <p:cNvPr id="3" name="Rounded Rectangle 2"/>
          <p:cNvSpPr/>
          <p:nvPr/>
        </p:nvSpPr>
        <p:spPr>
          <a:xfrm>
            <a:off x="685800" y="1828800"/>
            <a:ext cx="3657600" cy="41148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REST API ENDPOINTS</a:t>
            </a:r>
          </a:p>
          <a:p>
            <a:pPr>
              <a:spcBef>
                <a:spcPts val="500"/>
              </a:spcBef>
              <a:defRPr sz="1200">
                <a:solidFill>
                  <a:srgbClr val="232837"/>
                </a:solidFill>
                <a:latin typeface="Aptos"/>
              </a:defRPr>
            </a:pPr>
            <a:r>
              <a:t>POST /v1/troubleshoot</a:t>
            </a:r>
          </a:p>
          <a:p>
            <a:pPr>
              <a:spcBef>
                <a:spcPts val="500"/>
              </a:spcBef>
              <a:defRPr sz="1200">
                <a:solidFill>
                  <a:srgbClr val="232837"/>
                </a:solidFill>
                <a:latin typeface="Aptos"/>
              </a:defRPr>
            </a:pPr>
            <a:r>
              <a:t>Primary troubleshooting endpoint returning validated Goal JSON.</a:t>
            </a:r>
          </a:p>
          <a:p>
            <a:pPr>
              <a:spcBef>
                <a:spcPts val="500"/>
              </a:spcBef>
              <a:defRPr sz="1200">
                <a:solidFill>
                  <a:srgbClr val="232837"/>
                </a:solidFill>
                <a:latin typeface="Aptos"/>
              </a:defRPr>
            </a:pPr>
            <a:endParaRPr/>
          </a:p>
          <a:p>
            <a:pPr>
              <a:spcBef>
                <a:spcPts val="500"/>
              </a:spcBef>
              <a:defRPr sz="1200">
                <a:solidFill>
                  <a:srgbClr val="232837"/>
                </a:solidFill>
                <a:latin typeface="Aptos"/>
              </a:defRPr>
            </a:pPr>
            <a:r>
              <a:t>GET /health</a:t>
            </a:r>
          </a:p>
          <a:p>
            <a:pPr>
              <a:spcBef>
                <a:spcPts val="500"/>
              </a:spcBef>
              <a:defRPr sz="1200">
                <a:solidFill>
                  <a:srgbClr val="232837"/>
                </a:solidFill>
                <a:latin typeface="Aptos"/>
              </a:defRPr>
            </a:pPr>
            <a:r>
              <a:t>Health check returning {"status":"ok"}.</a:t>
            </a:r>
          </a:p>
          <a:p>
            <a:pPr>
              <a:spcBef>
                <a:spcPts val="500"/>
              </a:spcBef>
              <a:defRPr sz="1200">
                <a:solidFill>
                  <a:srgbClr val="232837"/>
                </a:solidFill>
                <a:latin typeface="Aptos"/>
              </a:defRPr>
            </a:pPr>
            <a:endParaRPr/>
          </a:p>
          <a:p>
            <a:pPr>
              <a:spcBef>
                <a:spcPts val="500"/>
              </a:spcBef>
              <a:defRPr sz="1200">
                <a:solidFill>
                  <a:srgbClr val="232837"/>
                </a:solidFill>
                <a:latin typeface="Aptos"/>
              </a:defRPr>
            </a:pPr>
            <a:r>
              <a:t>VERIFIED</a:t>
            </a:r>
          </a:p>
          <a:p>
            <a:pPr>
              <a:spcBef>
                <a:spcPts val="500"/>
              </a:spcBef>
              <a:defRPr sz="1200">
                <a:solidFill>
                  <a:srgbClr val="232837"/>
                </a:solidFill>
                <a:latin typeface="Aptos"/>
              </a:defRPr>
            </a:pPr>
            <a:r>
              <a:t>• Standard technical query</a:t>
            </a:r>
          </a:p>
          <a:p>
            <a:pPr>
              <a:spcBef>
                <a:spcPts val="500"/>
              </a:spcBef>
              <a:defRPr sz="1200">
                <a:solidFill>
                  <a:srgbClr val="232837"/>
                </a:solidFill>
                <a:latin typeface="Aptos"/>
              </a:defRPr>
            </a:pPr>
            <a:r>
              <a:t>• Paraphrase / canonical cache key</a:t>
            </a:r>
          </a:p>
          <a:p>
            <a:pPr>
              <a:spcBef>
                <a:spcPts val="500"/>
              </a:spcBef>
              <a:defRPr sz="1200">
                <a:solidFill>
                  <a:srgbClr val="232837"/>
                </a:solidFill>
                <a:latin typeface="Aptos"/>
              </a:defRPr>
            </a:pPr>
            <a:r>
              <a:t>• Repeat query fast path</a:t>
            </a:r>
          </a:p>
          <a:p>
            <a:pPr>
              <a:spcBef>
                <a:spcPts val="500"/>
              </a:spcBef>
              <a:defRPr sz="1200">
                <a:solidFill>
                  <a:srgbClr val="232837"/>
                </a:solidFill>
                <a:latin typeface="Aptos"/>
              </a:defRPr>
            </a:pPr>
            <a:r>
              <a:t>• Vague / unseen fallback</a:t>
            </a:r>
          </a:p>
        </p:txBody>
      </p:sp>
      <p:sp>
        <p:nvSpPr>
          <p:cNvPr id="4" name="Rounded Rectangle 3"/>
          <p:cNvSpPr/>
          <p:nvPr/>
        </p:nvSpPr>
        <p:spPr>
          <a:xfrm>
            <a:off x="4526280" y="1828800"/>
            <a:ext cx="6400800" cy="4114800"/>
          </a:xfrm>
          <a:prstGeom prst="roundRect">
            <a:avLst/>
          </a:prstGeom>
          <a:solidFill>
            <a:srgbClr val="141937"/>
          </a:solidFill>
          <a:ln w="12700">
            <a:solidFill>
              <a:srgbClr val="141937"/>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FFFFFF"/>
                </a:solidFill>
                <a:latin typeface="Aptos"/>
              </a:defRPr>
            </a:pPr>
            <a:r>
              <a:t>SAMPLE VALIDATED RESPONSE</a:t>
            </a:r>
          </a:p>
          <a:p>
            <a:pPr>
              <a:spcBef>
                <a:spcPts val="500"/>
              </a:spcBef>
              <a:defRPr sz="1100">
                <a:solidFill>
                  <a:srgbClr val="FFFFFF"/>
                </a:solidFill>
                <a:latin typeface="Aptos"/>
              </a:defRPr>
            </a:pPr>
            <a:r>
              <a:t>{</a:t>
            </a:r>
          </a:p>
          <a:p>
            <a:pPr>
              <a:spcBef>
                <a:spcPts val="500"/>
              </a:spcBef>
              <a:defRPr sz="1100">
                <a:solidFill>
                  <a:srgbClr val="FFFFFF"/>
                </a:solidFill>
                <a:latin typeface="Aptos"/>
              </a:defRPr>
            </a:pPr>
            <a:r>
              <a:t>  "goal": "Swipe Navigation Settings",</a:t>
            </a:r>
          </a:p>
          <a:p>
            <a:pPr>
              <a:spcBef>
                <a:spcPts val="500"/>
              </a:spcBef>
              <a:defRPr sz="1100">
                <a:solidFill>
                  <a:srgbClr val="FFFFFF"/>
                </a:solidFill>
                <a:latin typeface="Aptos"/>
              </a:defRPr>
            </a:pPr>
            <a:r>
              <a:t>  "title": "Fix Navigation Gesture Direction",</a:t>
            </a:r>
          </a:p>
          <a:p>
            <a:pPr>
              <a:spcBef>
                <a:spcPts val="500"/>
              </a:spcBef>
              <a:defRPr sz="1100">
                <a:solidFill>
                  <a:srgbClr val="FFFFFF"/>
                </a:solidFill>
                <a:latin typeface="Aptos"/>
              </a:defRPr>
            </a:pPr>
            <a:r>
              <a:t>  "score": 0.94,</a:t>
            </a:r>
          </a:p>
          <a:p>
            <a:pPr>
              <a:spcBef>
                <a:spcPts val="500"/>
              </a:spcBef>
              <a:defRPr sz="1100">
                <a:solidFill>
                  <a:srgbClr val="FFFFFF"/>
                </a:solidFill>
                <a:latin typeface="Aptos"/>
              </a:defRPr>
            </a:pPr>
            <a:r>
              <a:t>  "stepGroups": [</a:t>
            </a:r>
          </a:p>
          <a:p>
            <a:pPr>
              <a:spcBef>
                <a:spcPts val="500"/>
              </a:spcBef>
              <a:defRPr sz="1100">
                <a:solidFill>
                  <a:srgbClr val="FFFFFF"/>
                </a:solidFill>
                <a:latin typeface="Aptos"/>
              </a:defRPr>
            </a:pPr>
            <a:r>
              <a:t>    {"stepGroupId": "step_1",</a:t>
            </a:r>
          </a:p>
          <a:p>
            <a:pPr>
              <a:spcBef>
                <a:spcPts val="500"/>
              </a:spcBef>
              <a:defRPr sz="1100">
                <a:solidFill>
                  <a:srgbClr val="FFFFFF"/>
                </a:solidFill>
                <a:latin typeface="Aptos"/>
              </a:defRPr>
            </a:pPr>
            <a:r>
              <a:t>     "actions": [{"actionName": "Adjust Gesture Preference",</a:t>
            </a:r>
          </a:p>
          <a:p>
            <a:pPr>
              <a:spcBef>
                <a:spcPts val="500"/>
              </a:spcBef>
              <a:defRPr sz="1100">
                <a:solidFill>
                  <a:srgbClr val="FFFFFF"/>
                </a:solidFill>
                <a:latin typeface="Aptos"/>
              </a:defRPr>
            </a:pPr>
            <a:r>
              <a:t>     "actionableDeeplink": "bixby://settings/navigation_bar"}]}</a:t>
            </a:r>
          </a:p>
          <a:p>
            <a:pPr>
              <a:spcBef>
                <a:spcPts val="500"/>
              </a:spcBef>
              <a:defRPr sz="1100">
                <a:solidFill>
                  <a:srgbClr val="FFFFFF"/>
                </a:solidFill>
                <a:latin typeface="Aptos"/>
              </a:defRPr>
            </a:pPr>
            <a:r>
              <a:t>  ]</a:t>
            </a:r>
          </a:p>
          <a:p>
            <a:pPr>
              <a:spcBef>
                <a:spcPts val="500"/>
              </a:spcBef>
              <a:defRPr sz="1100">
                <a:solidFill>
                  <a:srgbClr val="FFFFFF"/>
                </a:solidFill>
                <a:latin typeface="Aptos"/>
              </a:defRPr>
            </a:pPr>
            <a:r>
              <a:t>}</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Tools and tech stack used</a:t>
            </a:r>
          </a:p>
        </p:txBody>
      </p:sp>
      <p:sp>
        <p:nvSpPr>
          <p:cNvPr id="3" name="Rounded Rectangle 2"/>
          <p:cNvSpPr/>
          <p:nvPr/>
        </p:nvSpPr>
        <p:spPr>
          <a:xfrm>
            <a:off x="685800" y="182880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LANGUAGE &amp; FRAMEWORK</a:t>
            </a:r>
          </a:p>
          <a:p>
            <a:pPr>
              <a:spcBef>
                <a:spcPts val="500"/>
              </a:spcBef>
              <a:defRPr sz="1150">
                <a:solidFill>
                  <a:srgbClr val="232837"/>
                </a:solidFill>
                <a:latin typeface="Aptos"/>
              </a:defRPr>
            </a:pPr>
            <a:r>
              <a:t>Python 3.12 | FastAPI</a:t>
            </a:r>
          </a:p>
          <a:p>
            <a:pPr>
              <a:spcBef>
                <a:spcPts val="500"/>
              </a:spcBef>
              <a:defRPr sz="1150">
                <a:solidFill>
                  <a:srgbClr val="232837"/>
                </a:solidFill>
                <a:latin typeface="Aptos"/>
              </a:defRPr>
            </a:pPr>
            <a:r>
              <a:t>REST microservice and API endpoints.</a:t>
            </a:r>
          </a:p>
        </p:txBody>
      </p:sp>
      <p:sp>
        <p:nvSpPr>
          <p:cNvPr id="4" name="Rounded Rectangle 3"/>
          <p:cNvSpPr/>
          <p:nvPr/>
        </p:nvSpPr>
        <p:spPr>
          <a:xfrm>
            <a:off x="6080760" y="182880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RETRIEVAL &amp; SEARCH</a:t>
            </a:r>
          </a:p>
          <a:p>
            <a:pPr>
              <a:spcBef>
                <a:spcPts val="500"/>
              </a:spcBef>
              <a:defRPr sz="1150">
                <a:solidFill>
                  <a:srgbClr val="232837"/>
                </a:solidFill>
                <a:latin typeface="Aptos"/>
              </a:defRPr>
            </a:pPr>
            <a:r>
              <a:t>BM25 Lexical Search</a:t>
            </a:r>
          </a:p>
          <a:p>
            <a:pPr>
              <a:spcBef>
                <a:spcPts val="500"/>
              </a:spcBef>
              <a:defRPr sz="1150">
                <a:solidFill>
                  <a:srgbClr val="232837"/>
                </a:solidFill>
                <a:latin typeface="Aptos"/>
              </a:defRPr>
            </a:pPr>
            <a:r>
              <a:t>Deterministic lexical retrieval over SIIS text.</a:t>
            </a:r>
          </a:p>
        </p:txBody>
      </p:sp>
      <p:sp>
        <p:nvSpPr>
          <p:cNvPr id="5" name="Rounded Rectangle 4"/>
          <p:cNvSpPr/>
          <p:nvPr/>
        </p:nvSpPr>
        <p:spPr>
          <a:xfrm>
            <a:off x="685800" y="324612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GENERATIVE AI &amp; SCHEMA</a:t>
            </a:r>
          </a:p>
          <a:p>
            <a:pPr>
              <a:spcBef>
                <a:spcPts val="500"/>
              </a:spcBef>
              <a:defRPr sz="1150">
                <a:solidFill>
                  <a:srgbClr val="232837"/>
                </a:solidFill>
                <a:latin typeface="Aptos"/>
              </a:defRPr>
            </a:pPr>
            <a:r>
              <a:t>Gemini / Google GenAI | Pydantic</a:t>
            </a:r>
          </a:p>
          <a:p>
            <a:pPr>
              <a:spcBef>
                <a:spcPts val="500"/>
              </a:spcBef>
              <a:defRPr sz="1150">
                <a:solidFill>
                  <a:srgbClr val="232837"/>
                </a:solidFill>
                <a:latin typeface="Aptos"/>
              </a:defRPr>
            </a:pPr>
            <a:r>
              <a:t>Structured goal generation under schema validation.</a:t>
            </a:r>
          </a:p>
        </p:txBody>
      </p:sp>
      <p:sp>
        <p:nvSpPr>
          <p:cNvPr id="6" name="Rounded Rectangle 5"/>
          <p:cNvSpPr/>
          <p:nvPr/>
        </p:nvSpPr>
        <p:spPr>
          <a:xfrm>
            <a:off x="6080760" y="324612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KNOWLEDGE &amp; CATALOG</a:t>
            </a:r>
          </a:p>
          <a:p>
            <a:pPr>
              <a:spcBef>
                <a:spcPts val="500"/>
              </a:spcBef>
              <a:defRPr sz="1150">
                <a:solidFill>
                  <a:srgbClr val="232837"/>
                </a:solidFill>
                <a:latin typeface="Aptos"/>
              </a:defRPr>
            </a:pPr>
            <a:r>
              <a:t>Samsung SIIS | deeplinks.json</a:t>
            </a:r>
          </a:p>
          <a:p>
            <a:pPr>
              <a:spcBef>
                <a:spcPts val="500"/>
              </a:spcBef>
              <a:defRPr sz="1150">
                <a:solidFill>
                  <a:srgbClr val="232837"/>
                </a:solidFill>
                <a:latin typeface="Aptos"/>
              </a:defRPr>
            </a:pPr>
            <a:r>
              <a:t>Grounding corpus plus closed-world bixby:// catalog.</a:t>
            </a:r>
          </a:p>
        </p:txBody>
      </p:sp>
      <p:sp>
        <p:nvSpPr>
          <p:cNvPr id="7" name="Rounded Rectangle 6"/>
          <p:cNvSpPr/>
          <p:nvPr/>
        </p:nvSpPr>
        <p:spPr>
          <a:xfrm>
            <a:off x="685800" y="466344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TESTING &amp; QUALITY</a:t>
            </a:r>
          </a:p>
          <a:p>
            <a:pPr>
              <a:spcBef>
                <a:spcPts val="500"/>
              </a:spcBef>
              <a:defRPr sz="1150">
                <a:solidFill>
                  <a:srgbClr val="232837"/>
                </a:solidFill>
                <a:latin typeface="Aptos"/>
              </a:defRPr>
            </a:pPr>
            <a:r>
              <a:t>Pytest — 427 Tests</a:t>
            </a:r>
          </a:p>
          <a:p>
            <a:pPr>
              <a:spcBef>
                <a:spcPts val="500"/>
              </a:spcBef>
              <a:defRPr sz="1150">
                <a:solidFill>
                  <a:srgbClr val="232837"/>
                </a:solidFill>
                <a:latin typeface="Aptos"/>
              </a:defRPr>
            </a:pPr>
            <a:r>
              <a:t>Schema, deeplink, regression and safety validation.</a:t>
            </a:r>
          </a:p>
        </p:txBody>
      </p:sp>
      <p:sp>
        <p:nvSpPr>
          <p:cNvPr id="8" name="Rounded Rectangle 7"/>
          <p:cNvSpPr/>
          <p:nvPr/>
        </p:nvSpPr>
        <p:spPr>
          <a:xfrm>
            <a:off x="6080760" y="4663440"/>
            <a:ext cx="5074920" cy="114300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CONTAINERIZATION</a:t>
            </a:r>
          </a:p>
          <a:p>
            <a:pPr>
              <a:spcBef>
                <a:spcPts val="500"/>
              </a:spcBef>
              <a:defRPr sz="1150">
                <a:solidFill>
                  <a:srgbClr val="232837"/>
                </a:solidFill>
                <a:latin typeface="Aptos"/>
              </a:defRPr>
            </a:pPr>
            <a:r>
              <a:t>Docker</a:t>
            </a:r>
          </a:p>
          <a:p>
            <a:pPr>
              <a:spcBef>
                <a:spcPts val="500"/>
              </a:spcBef>
              <a:defRPr sz="1150">
                <a:solidFill>
                  <a:srgbClr val="232837"/>
                </a:solidFill>
                <a:latin typeface="Aptos"/>
              </a:defRPr>
            </a:pPr>
            <a:r>
              <a:t>Containerized runtime verified through /health.</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Impact &amp; Use case</a:t>
            </a:r>
          </a:p>
        </p:txBody>
      </p:sp>
      <p:sp>
        <p:nvSpPr>
          <p:cNvPr id="3" name="Rounded Rectangle 2"/>
          <p:cNvSpPr/>
          <p:nvPr/>
        </p:nvSpPr>
        <p:spPr>
          <a:xfrm>
            <a:off x="685800" y="1828800"/>
            <a:ext cx="5074920" cy="173736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Customer Support Efficiency</a:t>
            </a:r>
          </a:p>
          <a:p>
            <a:pPr>
              <a:spcBef>
                <a:spcPts val="500"/>
              </a:spcBef>
              <a:defRPr sz="1200">
                <a:solidFill>
                  <a:srgbClr val="232837"/>
                </a:solidFill>
                <a:latin typeface="Aptos"/>
              </a:defRPr>
            </a:pPr>
            <a:r>
              <a:t>Automates initial triage instead of requiring manual SIIS searching and step extraction.</a:t>
            </a:r>
          </a:p>
        </p:txBody>
      </p:sp>
      <p:sp>
        <p:nvSpPr>
          <p:cNvPr id="4" name="Rounded Rectangle 3"/>
          <p:cNvSpPr/>
          <p:nvPr/>
        </p:nvSpPr>
        <p:spPr>
          <a:xfrm>
            <a:off x="6080760" y="1828800"/>
            <a:ext cx="5074920" cy="173736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End-User Friction Reduction</a:t>
            </a:r>
          </a:p>
          <a:p>
            <a:pPr>
              <a:spcBef>
                <a:spcPts val="500"/>
              </a:spcBef>
              <a:defRPr sz="1200">
                <a:solidFill>
                  <a:srgbClr val="232837"/>
                </a:solidFill>
                <a:latin typeface="Aptos"/>
              </a:defRPr>
            </a:pPr>
            <a:r>
              <a:t>Returns direct in-app deeplinks where a supported catalog target exists.</a:t>
            </a:r>
          </a:p>
        </p:txBody>
      </p:sp>
      <p:sp>
        <p:nvSpPr>
          <p:cNvPr id="5" name="Rounded Rectangle 4"/>
          <p:cNvSpPr/>
          <p:nvPr/>
        </p:nvSpPr>
        <p:spPr>
          <a:xfrm>
            <a:off x="685800" y="3886200"/>
            <a:ext cx="5074920" cy="173736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Accurate Settings Navigation</a:t>
            </a:r>
          </a:p>
          <a:p>
            <a:pPr>
              <a:spcBef>
                <a:spcPts val="500"/>
              </a:spcBef>
              <a:defRPr sz="1200">
                <a:solidFill>
                  <a:srgbClr val="232837"/>
                </a:solidFill>
                <a:latin typeface="Aptos"/>
              </a:defRPr>
            </a:pPr>
            <a:r>
              <a:t>Closed-world mapping keeps returned deeplinks tied to the supplied catalog.</a:t>
            </a:r>
          </a:p>
        </p:txBody>
      </p:sp>
      <p:sp>
        <p:nvSpPr>
          <p:cNvPr id="6" name="Rounded Rectangle 5"/>
          <p:cNvSpPr/>
          <p:nvPr/>
        </p:nvSpPr>
        <p:spPr>
          <a:xfrm>
            <a:off x="6080760" y="3886200"/>
            <a:ext cx="5074920" cy="173736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Reusable Infrastructure</a:t>
            </a:r>
          </a:p>
          <a:p>
            <a:pPr>
              <a:spcBef>
                <a:spcPts val="500"/>
              </a:spcBef>
              <a:defRPr sz="1200">
                <a:solidFill>
                  <a:srgbClr val="232837"/>
                </a:solidFill>
                <a:latin typeface="Aptos"/>
              </a:defRPr>
            </a:pPr>
            <a:r>
              <a:t>Modular REST service can be integrated with future Galaxy support interfaces.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Innovation highlights, results and limitations</a:t>
            </a:r>
          </a:p>
        </p:txBody>
      </p:sp>
      <p:sp>
        <p:nvSpPr>
          <p:cNvPr id="3" name="Rounded Rectangle 2"/>
          <p:cNvSpPr/>
          <p:nvPr/>
        </p:nvSpPr>
        <p:spPr>
          <a:xfrm>
            <a:off x="685800" y="1828800"/>
            <a:ext cx="3337560" cy="420624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t>CORE INNOVATIONS</a:t>
            </a:r>
          </a:p>
          <a:p>
            <a:pPr>
              <a:spcBef>
                <a:spcPts val="500"/>
              </a:spcBef>
              <a:defRPr sz="1200">
                <a:solidFill>
                  <a:srgbClr val="232837"/>
                </a:solidFill>
                <a:latin typeface="Aptos"/>
              </a:defRPr>
            </a:pPr>
            <a:r>
              <a:t>• Closed-world deeplinks</a:t>
            </a:r>
          </a:p>
          <a:p>
            <a:pPr>
              <a:spcBef>
                <a:spcPts val="500"/>
              </a:spcBef>
              <a:defRPr sz="1200">
                <a:solidFill>
                  <a:srgbClr val="232837"/>
                </a:solidFill>
                <a:latin typeface="Aptos"/>
              </a:defRPr>
            </a:pPr>
            <a:r>
              <a:t>• SIIS grounding</a:t>
            </a:r>
          </a:p>
          <a:p>
            <a:pPr>
              <a:spcBef>
                <a:spcPts val="500"/>
              </a:spcBef>
              <a:defRPr sz="1200">
                <a:solidFill>
                  <a:srgbClr val="232837"/>
                </a:solidFill>
                <a:latin typeface="Aptos"/>
              </a:defRPr>
            </a:pPr>
            <a:r>
              <a:t>• BM25 deterministic retrieval</a:t>
            </a:r>
          </a:p>
          <a:p>
            <a:pPr>
              <a:spcBef>
                <a:spcPts val="500"/>
              </a:spcBef>
              <a:defRPr sz="1200">
                <a:solidFill>
                  <a:srgbClr val="232837"/>
                </a:solidFill>
                <a:latin typeface="Aptos"/>
              </a:defRPr>
            </a:pPr>
            <a:r>
              <a:t>• Relevance &amp; direction gates</a:t>
            </a:r>
          </a:p>
          <a:p>
            <a:pPr>
              <a:spcBef>
                <a:spcPts val="500"/>
              </a:spcBef>
              <a:defRPr sz="1200">
                <a:solidFill>
                  <a:srgbClr val="232837"/>
                </a:solidFill>
                <a:latin typeface="Aptos"/>
              </a:defRPr>
            </a:pPr>
            <a:r>
              <a:t>• Pydantic schema validation</a:t>
            </a:r>
          </a:p>
          <a:p>
            <a:pPr>
              <a:spcBef>
                <a:spcPts val="500"/>
              </a:spcBef>
              <a:defRPr sz="1200">
                <a:solidFill>
                  <a:srgbClr val="232837"/>
                </a:solidFill>
                <a:latin typeface="Aptos"/>
              </a:defRPr>
            </a:pPr>
            <a:r>
              <a:t>• Safe fallback / URL safety validation</a:t>
            </a:r>
          </a:p>
        </p:txBody>
      </p:sp>
      <p:sp>
        <p:nvSpPr>
          <p:cNvPr id="4" name="Rounded Rectangle 3"/>
          <p:cNvSpPr/>
          <p:nvPr/>
        </p:nvSpPr>
        <p:spPr>
          <a:xfrm>
            <a:off x="4251960" y="1828800"/>
            <a:ext cx="3337560" cy="420624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39673"/>
                </a:solidFill>
                <a:latin typeface="Aptos"/>
              </a:defRPr>
            </a:pPr>
            <a:r>
              <a:t>MEASURED RESULTS</a:t>
            </a:r>
          </a:p>
          <a:p>
            <a:pPr>
              <a:spcBef>
                <a:spcPts val="500"/>
              </a:spcBef>
              <a:defRPr sz="1200">
                <a:solidFill>
                  <a:srgbClr val="232837"/>
                </a:solidFill>
                <a:latin typeface="Aptos"/>
              </a:defRPr>
            </a:pPr>
            <a:r>
              <a:t>• 427 tests passed</a:t>
            </a:r>
          </a:p>
          <a:p>
            <a:pPr>
              <a:spcBef>
                <a:spcPts val="500"/>
              </a:spcBef>
              <a:defRPr sz="1200">
                <a:solidFill>
                  <a:srgbClr val="232837"/>
                </a:solidFill>
                <a:latin typeface="Aptos"/>
              </a:defRPr>
            </a:pPr>
            <a:r>
              <a:t>• 20/20 official scenarios</a:t>
            </a:r>
          </a:p>
          <a:p>
            <a:pPr>
              <a:spcBef>
                <a:spcPts val="500"/>
              </a:spcBef>
              <a:defRPr sz="1200">
                <a:solidFill>
                  <a:srgbClr val="232837"/>
                </a:solidFill>
                <a:latin typeface="Aptos"/>
              </a:defRPr>
            </a:pPr>
            <a:r>
              <a:t>• 0 invalid deeplinks</a:t>
            </a:r>
          </a:p>
          <a:p>
            <a:pPr>
              <a:spcBef>
                <a:spcPts val="500"/>
              </a:spcBef>
              <a:defRPr sz="1200">
                <a:solidFill>
                  <a:srgbClr val="232837"/>
                </a:solidFill>
                <a:latin typeface="Aptos"/>
              </a:defRPr>
            </a:pPr>
            <a:r>
              <a:t>• 0 web URL leaks</a:t>
            </a:r>
          </a:p>
          <a:p>
            <a:pPr>
              <a:spcBef>
                <a:spcPts val="500"/>
              </a:spcBef>
              <a:defRPr sz="1200">
                <a:solidFill>
                  <a:srgbClr val="232837"/>
                </a:solidFill>
                <a:latin typeface="Aptos"/>
              </a:defRPr>
            </a:pPr>
            <a:r>
              <a:t>• 9/9 paraphrases</a:t>
            </a:r>
          </a:p>
          <a:p>
            <a:pPr>
              <a:spcBef>
                <a:spcPts val="500"/>
              </a:spcBef>
              <a:defRPr sz="1200">
                <a:solidFill>
                  <a:srgbClr val="232837"/>
                </a:solidFill>
                <a:latin typeface="Aptos"/>
              </a:defRPr>
            </a:pPr>
            <a:r>
              <a:t>• 10/10 variations</a:t>
            </a:r>
          </a:p>
          <a:p>
            <a:pPr>
              <a:spcBef>
                <a:spcPts val="500"/>
              </a:spcBef>
              <a:defRPr sz="1200">
                <a:solidFill>
                  <a:srgbClr val="232837"/>
                </a:solidFill>
                <a:latin typeface="Aptos"/>
              </a:defRPr>
            </a:pPr>
            <a:r>
              <a:t>• ~49 ms repeat-query P95</a:t>
            </a:r>
          </a:p>
          <a:p>
            <a:pPr>
              <a:spcBef>
                <a:spcPts val="500"/>
              </a:spcBef>
              <a:defRPr sz="1200">
                <a:solidFill>
                  <a:srgbClr val="232837"/>
                </a:solidFill>
                <a:latin typeface="Aptos"/>
              </a:defRPr>
            </a:pPr>
            <a:r>
              <a:t>• &lt;300 ms fast-path target</a:t>
            </a:r>
          </a:p>
        </p:txBody>
      </p:sp>
      <p:sp>
        <p:nvSpPr>
          <p:cNvPr id="5" name="Rounded Rectangle 4"/>
          <p:cNvSpPr/>
          <p:nvPr/>
        </p:nvSpPr>
        <p:spPr>
          <a:xfrm>
            <a:off x="7818120" y="1828800"/>
            <a:ext cx="3337560" cy="420624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E69128"/>
                </a:solidFill>
                <a:latin typeface="Aptos"/>
              </a:defRPr>
            </a:pPr>
            <a:r>
              <a:t>CURRENT LIMITATIONS</a:t>
            </a:r>
          </a:p>
          <a:p>
            <a:pPr>
              <a:spcBef>
                <a:spcPts val="500"/>
              </a:spcBef>
              <a:defRPr sz="1200">
                <a:solidFill>
                  <a:srgbClr val="232837"/>
                </a:solidFill>
                <a:latin typeface="Aptos"/>
              </a:defRPr>
            </a:pPr>
            <a:r>
              <a:t>• Output bounded by current SIIS and deeplink catalog</a:t>
            </a:r>
          </a:p>
          <a:p>
            <a:pPr>
              <a:spcBef>
                <a:spcPts val="500"/>
              </a:spcBef>
              <a:defRPr sz="1200">
                <a:solidFill>
                  <a:srgbClr val="232837"/>
                </a:solidFill>
                <a:latin typeface="Aptos"/>
              </a:defRPr>
            </a:pPr>
            <a:r>
              <a:t>• LLM quota can affect cold-path availability/latency</a:t>
            </a:r>
          </a:p>
          <a:p>
            <a:pPr>
              <a:spcBef>
                <a:spcPts val="500"/>
              </a:spcBef>
              <a:defRPr sz="1200">
                <a:solidFill>
                  <a:srgbClr val="232837"/>
                </a:solidFill>
                <a:latin typeface="Aptos"/>
              </a:defRPr>
            </a:pPr>
            <a:r>
              <a:t>• No production APM in prototype</a:t>
            </a:r>
          </a:p>
          <a:p>
            <a:pPr>
              <a:spcBef>
                <a:spcPts val="500"/>
              </a:spcBef>
              <a:defRPr sz="1200">
                <a:solidFill>
                  <a:srgbClr val="232837"/>
                </a:solidFill>
                <a:latin typeface="Aptos"/>
              </a:defRPr>
            </a:pPr>
            <a:r>
              <a:t>• REST API only; no native Android client yet</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What’s next</a:t>
            </a:r>
          </a:p>
        </p:txBody>
      </p:sp>
      <p:sp>
        <p:nvSpPr>
          <p:cNvPr id="3" name="TextBox 2"/>
          <p:cNvSpPr txBox="1"/>
          <p:nvPr/>
        </p:nvSpPr>
        <p:spPr>
          <a:xfrm>
            <a:off x="685800" y="1691640"/>
            <a:ext cx="10424160" cy="411480"/>
          </a:xfrm>
          <a:prstGeom prst="rect">
            <a:avLst/>
          </a:prstGeom>
          <a:solidFill>
            <a:srgbClr val="394CBE"/>
          </a:solidFill>
          <a:ln>
            <a:noFill/>
          </a:ln>
        </p:spPr>
        <p:txBody>
          <a:bodyPr wrap="square" lIns="109728" tIns="73152" rIns="109728" bIns="73152" anchor="t">
            <a:spAutoFit/>
          </a:bodyPr>
          <a:lstStyle/>
          <a:p>
            <a:pPr algn="ctr">
              <a:defRPr sz="1400" b="1">
                <a:solidFill>
                  <a:srgbClr val="FFFFFF"/>
                </a:solidFill>
                <a:latin typeface="Aptos"/>
              </a:defRPr>
            </a:pPr>
            <a:r>
              <a:t>PLANNED ENHANCEMENTS — FUTURE WORK</a:t>
            </a:r>
          </a:p>
        </p:txBody>
      </p:sp>
      <p:sp>
        <p:nvSpPr>
          <p:cNvPr id="4" name="Rounded Rectangle 3"/>
          <p:cNvSpPr/>
          <p:nvPr/>
        </p:nvSpPr>
        <p:spPr>
          <a:xfrm>
            <a:off x="685800" y="2423160"/>
            <a:ext cx="5074920" cy="14173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1. Native Android &amp; Web UI</a:t>
            </a:r>
          </a:p>
          <a:p>
            <a:pPr>
              <a:spcBef>
                <a:spcPts val="500"/>
              </a:spcBef>
              <a:defRPr sz="1150">
                <a:solidFill>
                  <a:srgbClr val="232837"/>
                </a:solidFill>
                <a:latin typeface="Aptos"/>
              </a:defRPr>
            </a:pPr>
            <a:r>
              <a:t>FUTURE WORK: Render interactive troubleshooting cards and execute supported settings deeplinks.</a:t>
            </a:r>
          </a:p>
        </p:txBody>
      </p:sp>
      <p:sp>
        <p:nvSpPr>
          <p:cNvPr id="5" name="Rounded Rectangle 4"/>
          <p:cNvSpPr/>
          <p:nvPr/>
        </p:nvSpPr>
        <p:spPr>
          <a:xfrm>
            <a:off x="6080760" y="2423160"/>
            <a:ext cx="5074920" cy="14173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2. Multi-Turn Clarification</a:t>
            </a:r>
          </a:p>
          <a:p>
            <a:pPr>
              <a:spcBef>
                <a:spcPts val="500"/>
              </a:spcBef>
              <a:defRPr sz="1150">
                <a:solidFill>
                  <a:srgbClr val="232837"/>
                </a:solidFill>
                <a:latin typeface="Aptos"/>
              </a:defRPr>
            </a:pPr>
            <a:r>
              <a:t>FUTURE WORK: Clarify highly ambiguous or multi-intent complaints before generating plans.</a:t>
            </a:r>
          </a:p>
        </p:txBody>
      </p:sp>
      <p:sp>
        <p:nvSpPr>
          <p:cNvPr id="6" name="Rounded Rectangle 5"/>
          <p:cNvSpPr/>
          <p:nvPr/>
        </p:nvSpPr>
        <p:spPr>
          <a:xfrm>
            <a:off x="685800" y="4114800"/>
            <a:ext cx="5074920" cy="14173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3. Expanded SIIS &amp; Catalog</a:t>
            </a:r>
          </a:p>
          <a:p>
            <a:pPr>
              <a:spcBef>
                <a:spcPts val="500"/>
              </a:spcBef>
              <a:defRPr sz="1150">
                <a:solidFill>
                  <a:srgbClr val="232837"/>
                </a:solidFill>
                <a:latin typeface="Aptos"/>
              </a:defRPr>
            </a:pPr>
            <a:r>
              <a:t>FUTURE WORK: Broaden Galaxy documentation and inner-settings deeplink coverage.</a:t>
            </a:r>
          </a:p>
        </p:txBody>
      </p:sp>
      <p:sp>
        <p:nvSpPr>
          <p:cNvPr id="7" name="Rounded Rectangle 6"/>
          <p:cNvSpPr/>
          <p:nvPr/>
        </p:nvSpPr>
        <p:spPr>
          <a:xfrm>
            <a:off x="6080760" y="4114800"/>
            <a:ext cx="5074920" cy="14173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28A5A5"/>
                </a:solidFill>
                <a:latin typeface="Aptos"/>
              </a:defRPr>
            </a:pPr>
            <a:r>
              <a:t>4. Production Caching &amp; Telemetry</a:t>
            </a:r>
          </a:p>
          <a:p>
            <a:pPr>
              <a:spcBef>
                <a:spcPts val="500"/>
              </a:spcBef>
              <a:defRPr sz="1150">
                <a:solidFill>
                  <a:srgbClr val="232837"/>
                </a:solidFill>
                <a:latin typeface="Aptos"/>
              </a:defRPr>
            </a:pPr>
            <a:r>
              <a:t>FUTURE WORK: Explore Redis, Prometheus, OpenTelemetry and automated load testing.</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t>Brownie points slide( differentiation)</a:t>
            </a:r>
          </a:p>
        </p:txBody>
      </p:sp>
      <p:graphicFrame>
        <p:nvGraphicFramePr>
          <p:cNvPr id="3" name="Table 2"/>
          <p:cNvGraphicFramePr>
            <a:graphicFrameLocks noGrp="1"/>
          </p:cNvGraphicFramePr>
          <p:nvPr/>
        </p:nvGraphicFramePr>
        <p:xfrm>
          <a:off x="640080" y="1828800"/>
          <a:ext cx="10515600" cy="420624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701040">
                <a:tc>
                  <a:txBody>
                    <a:bodyPr/>
                    <a:lstStyle/>
                    <a:p>
                      <a:pPr algn="ctr">
                        <a:defRPr sz="1200" b="1">
                          <a:solidFill>
                            <a:srgbClr val="FFFFFF"/>
                          </a:solidFill>
                          <a:latin typeface="Aptos"/>
                        </a:defRPr>
                      </a:pPr>
                      <a:r>
                        <a:t>Evaluation Dimension</a:t>
                      </a:r>
                    </a:p>
                  </a:txBody>
                  <a:tcPr>
                    <a:solidFill>
                      <a:srgbClr val="394CBE"/>
                    </a:solidFill>
                  </a:tcPr>
                </a:tc>
                <a:tc>
                  <a:txBody>
                    <a:bodyPr/>
                    <a:lstStyle/>
                    <a:p>
                      <a:pPr algn="ctr">
                        <a:defRPr sz="1200" b="1">
                          <a:solidFill>
                            <a:srgbClr val="FFFFFF"/>
                          </a:solidFill>
                          <a:latin typeface="Aptos"/>
                        </a:defRPr>
                      </a:pPr>
                      <a:r>
                        <a:t>Generic Unconstrained LLM</a:t>
                      </a:r>
                    </a:p>
                  </a:txBody>
                  <a:tcPr>
                    <a:solidFill>
                      <a:srgbClr val="394CBE"/>
                    </a:solidFill>
                  </a:tcPr>
                </a:tc>
                <a:tc>
                  <a:txBody>
                    <a:bodyPr/>
                    <a:lstStyle/>
                    <a:p>
                      <a:pPr algn="ctr">
                        <a:defRPr sz="1200" b="1">
                          <a:solidFill>
                            <a:srgbClr val="FFFFFF"/>
                          </a:solidFill>
                          <a:latin typeface="Aptos"/>
                        </a:defRPr>
                      </a:pPr>
                      <a:r>
                        <a:t>TapFix Engine</a:t>
                      </a:r>
                    </a:p>
                  </a:txBody>
                  <a:tcPr>
                    <a:solidFill>
                      <a:srgbClr val="394CBE"/>
                    </a:solidFill>
                  </a:tcPr>
                </a:tc>
                <a:extLst>
                  <a:ext uri="{0D108BD9-81ED-4DB2-BD59-A6C34878D82A}">
                    <a16:rowId xmlns:a16="http://schemas.microsoft.com/office/drawing/2014/main" val="10000"/>
                  </a:ext>
                </a:extLst>
              </a:tr>
              <a:tr h="701040">
                <a:tc>
                  <a:txBody>
                    <a:bodyPr/>
                    <a:lstStyle/>
                    <a:p>
                      <a:pPr>
                        <a:defRPr sz="1150" b="1">
                          <a:solidFill>
                            <a:srgbClr val="232837"/>
                          </a:solidFill>
                          <a:latin typeface="Aptos"/>
                        </a:defRPr>
                      </a:pPr>
                      <a:r>
                        <a:t>Action Space</a:t>
                      </a:r>
                    </a:p>
                  </a:txBody>
                  <a:tcPr>
                    <a:solidFill>
                      <a:srgbClr val="FFFFFF"/>
                    </a:solidFill>
                  </a:tcPr>
                </a:tc>
                <a:tc>
                  <a:txBody>
                    <a:bodyPr/>
                    <a:lstStyle/>
                    <a:p>
                      <a:pPr>
                        <a:defRPr sz="1150">
                          <a:solidFill>
                            <a:srgbClr val="232837"/>
                          </a:solidFill>
                          <a:latin typeface="Aptos"/>
                        </a:defRPr>
                      </a:pPr>
                      <a:r>
                        <a:t>Unbounded generation</a:t>
                      </a:r>
                    </a:p>
                  </a:txBody>
                  <a:tcPr>
                    <a:solidFill>
                      <a:srgbClr val="FFFFFF"/>
                    </a:solidFill>
                  </a:tcPr>
                </a:tc>
                <a:tc>
                  <a:txBody>
                    <a:bodyPr/>
                    <a:lstStyle/>
                    <a:p>
                      <a:pPr>
                        <a:defRPr sz="1150">
                          <a:solidFill>
                            <a:srgbClr val="232837"/>
                          </a:solidFill>
                          <a:latin typeface="Aptos"/>
                        </a:defRPr>
                      </a:pPr>
                      <a:r>
                        <a:t>Grounded in closed-world deeplink catalog</a:t>
                      </a:r>
                    </a:p>
                  </a:txBody>
                  <a:tcPr>
                    <a:solidFill>
                      <a:srgbClr val="FFFFFF"/>
                    </a:solidFill>
                  </a:tcPr>
                </a:tc>
                <a:extLst>
                  <a:ext uri="{0D108BD9-81ED-4DB2-BD59-A6C34878D82A}">
                    <a16:rowId xmlns:a16="http://schemas.microsoft.com/office/drawing/2014/main" val="10001"/>
                  </a:ext>
                </a:extLst>
              </a:tr>
              <a:tr h="701040">
                <a:tc>
                  <a:txBody>
                    <a:bodyPr/>
                    <a:lstStyle/>
                    <a:p>
                      <a:pPr>
                        <a:defRPr sz="1150" b="1">
                          <a:solidFill>
                            <a:srgbClr val="232837"/>
                          </a:solidFill>
                          <a:latin typeface="Aptos"/>
                        </a:defRPr>
                      </a:pPr>
                      <a:r>
                        <a:t>Knowledge Source</a:t>
                      </a:r>
                    </a:p>
                  </a:txBody>
                  <a:tcPr>
                    <a:solidFill>
                      <a:srgbClr val="EFF1F9"/>
                    </a:solidFill>
                  </a:tcPr>
                </a:tc>
                <a:tc>
                  <a:txBody>
                    <a:bodyPr/>
                    <a:lstStyle/>
                    <a:p>
                      <a:pPr>
                        <a:defRPr sz="1150">
                          <a:solidFill>
                            <a:srgbClr val="232837"/>
                          </a:solidFill>
                          <a:latin typeface="Aptos"/>
                        </a:defRPr>
                      </a:pPr>
                      <a:r>
                        <a:t>General model knowledge</a:t>
                      </a:r>
                    </a:p>
                  </a:txBody>
                  <a:tcPr>
                    <a:solidFill>
                      <a:srgbClr val="EFF1F9"/>
                    </a:solidFill>
                  </a:tcPr>
                </a:tc>
                <a:tc>
                  <a:txBody>
                    <a:bodyPr/>
                    <a:lstStyle/>
                    <a:p>
                      <a:pPr>
                        <a:defRPr sz="1150">
                          <a:solidFill>
                            <a:srgbClr val="232837"/>
                          </a:solidFill>
                          <a:latin typeface="Aptos"/>
                        </a:defRPr>
                      </a:pPr>
                      <a:r>
                        <a:t>SIIS reference text grounding</a:t>
                      </a:r>
                    </a:p>
                  </a:txBody>
                  <a:tcPr>
                    <a:solidFill>
                      <a:srgbClr val="EFF1F9"/>
                    </a:solidFill>
                  </a:tcPr>
                </a:tc>
                <a:extLst>
                  <a:ext uri="{0D108BD9-81ED-4DB2-BD59-A6C34878D82A}">
                    <a16:rowId xmlns:a16="http://schemas.microsoft.com/office/drawing/2014/main" val="10002"/>
                  </a:ext>
                </a:extLst>
              </a:tr>
              <a:tr h="701040">
                <a:tc>
                  <a:txBody>
                    <a:bodyPr/>
                    <a:lstStyle/>
                    <a:p>
                      <a:pPr>
                        <a:defRPr sz="1150" b="1">
                          <a:solidFill>
                            <a:srgbClr val="232837"/>
                          </a:solidFill>
                          <a:latin typeface="Aptos"/>
                        </a:defRPr>
                      </a:pPr>
                      <a:r>
                        <a:t>Deeplink Safety</a:t>
                      </a:r>
                    </a:p>
                  </a:txBody>
                  <a:tcPr>
                    <a:solidFill>
                      <a:srgbClr val="FFFFFF"/>
                    </a:solidFill>
                  </a:tcPr>
                </a:tc>
                <a:tc>
                  <a:txBody>
                    <a:bodyPr/>
                    <a:lstStyle/>
                    <a:p>
                      <a:pPr>
                        <a:defRPr sz="1150">
                          <a:solidFill>
                            <a:srgbClr val="232837"/>
                          </a:solidFill>
                          <a:latin typeface="Aptos"/>
                        </a:defRPr>
                      </a:pPr>
                      <a:r>
                        <a:t>May return unsupported web URLs</a:t>
                      </a:r>
                    </a:p>
                  </a:txBody>
                  <a:tcPr>
                    <a:solidFill>
                      <a:srgbClr val="FFFFFF"/>
                    </a:solidFill>
                  </a:tcPr>
                </a:tc>
                <a:tc>
                  <a:txBody>
                    <a:bodyPr/>
                    <a:lstStyle/>
                    <a:p>
                      <a:pPr>
                        <a:defRPr sz="1150">
                          <a:solidFill>
                            <a:srgbClr val="232837"/>
                          </a:solidFill>
                          <a:latin typeface="Aptos"/>
                        </a:defRPr>
                      </a:pPr>
                      <a:r>
                        <a:t>Catalog-backed bixby:// targets</a:t>
                      </a:r>
                    </a:p>
                  </a:txBody>
                  <a:tcPr>
                    <a:solidFill>
                      <a:srgbClr val="FFFFFF"/>
                    </a:solidFill>
                  </a:tcPr>
                </a:tc>
                <a:extLst>
                  <a:ext uri="{0D108BD9-81ED-4DB2-BD59-A6C34878D82A}">
                    <a16:rowId xmlns:a16="http://schemas.microsoft.com/office/drawing/2014/main" val="10003"/>
                  </a:ext>
                </a:extLst>
              </a:tr>
              <a:tr h="701040">
                <a:tc>
                  <a:txBody>
                    <a:bodyPr/>
                    <a:lstStyle/>
                    <a:p>
                      <a:pPr>
                        <a:defRPr sz="1150" b="1">
                          <a:solidFill>
                            <a:srgbClr val="232837"/>
                          </a:solidFill>
                          <a:latin typeface="Aptos"/>
                        </a:defRPr>
                      </a:pPr>
                      <a:r>
                        <a:t>Action Sequencing</a:t>
                      </a:r>
                    </a:p>
                  </a:txBody>
                  <a:tcPr>
                    <a:solidFill>
                      <a:srgbClr val="EFF1F9"/>
                    </a:solidFill>
                  </a:tcPr>
                </a:tc>
                <a:tc>
                  <a:txBody>
                    <a:bodyPr/>
                    <a:lstStyle/>
                    <a:p>
                      <a:pPr>
                        <a:defRPr sz="1150">
                          <a:solidFill>
                            <a:srgbClr val="232837"/>
                          </a:solidFill>
                          <a:latin typeface="Aptos"/>
                        </a:defRPr>
                      </a:pPr>
                      <a:r>
                        <a:t>Not guaranteed by a generic chatbot</a:t>
                      </a:r>
                    </a:p>
                  </a:txBody>
                  <a:tcPr>
                    <a:solidFill>
                      <a:srgbClr val="EFF1F9"/>
                    </a:solidFill>
                  </a:tcPr>
                </a:tc>
                <a:tc>
                  <a:txBody>
                    <a:bodyPr/>
                    <a:lstStyle/>
                    <a:p>
                      <a:pPr>
                        <a:defRPr sz="1150">
                          <a:solidFill>
                            <a:srgbClr val="232837"/>
                          </a:solidFill>
                          <a:latin typeface="Aptos"/>
                        </a:defRPr>
                      </a:pPr>
                      <a:r>
                        <a:t>Validation and deterministic pipeline gates</a:t>
                      </a:r>
                    </a:p>
                  </a:txBody>
                  <a:tcPr>
                    <a:solidFill>
                      <a:srgbClr val="EFF1F9"/>
                    </a:solidFill>
                  </a:tcPr>
                </a:tc>
                <a:extLst>
                  <a:ext uri="{0D108BD9-81ED-4DB2-BD59-A6C34878D82A}">
                    <a16:rowId xmlns:a16="http://schemas.microsoft.com/office/drawing/2014/main" val="10004"/>
                  </a:ext>
                </a:extLst>
              </a:tr>
              <a:tr h="701040">
                <a:tc>
                  <a:txBody>
                    <a:bodyPr/>
                    <a:lstStyle/>
                    <a:p>
                      <a:pPr>
                        <a:defRPr sz="1150" b="1">
                          <a:solidFill>
                            <a:srgbClr val="232837"/>
                          </a:solidFill>
                          <a:latin typeface="Aptos"/>
                        </a:defRPr>
                      </a:pPr>
                      <a:r>
                        <a:t>Response Latency</a:t>
                      </a:r>
                    </a:p>
                  </a:txBody>
                  <a:tcPr>
                    <a:solidFill>
                      <a:srgbClr val="FFFFFF"/>
                    </a:solidFill>
                  </a:tcPr>
                </a:tc>
                <a:tc>
                  <a:txBody>
                    <a:bodyPr/>
                    <a:lstStyle/>
                    <a:p>
                      <a:pPr>
                        <a:defRPr sz="1150">
                          <a:solidFill>
                            <a:srgbClr val="232837"/>
                          </a:solidFill>
                          <a:latin typeface="Aptos"/>
                        </a:defRPr>
                      </a:pPr>
                      <a:r>
                        <a:t>Depends on model call</a:t>
                      </a:r>
                    </a:p>
                  </a:txBody>
                  <a:tcPr>
                    <a:solidFill>
                      <a:srgbClr val="FFFFFF"/>
                    </a:solidFill>
                  </a:tcPr>
                </a:tc>
                <a:tc>
                  <a:txBody>
                    <a:bodyPr/>
                    <a:lstStyle/>
                    <a:p>
                      <a:pPr>
                        <a:defRPr sz="1150">
                          <a:solidFill>
                            <a:srgbClr val="232837"/>
                          </a:solidFill>
                          <a:latin typeface="Aptos"/>
                        </a:defRPr>
                      </a:pPr>
                      <a:r>
                        <a:t>~49 ms repeat P95 measured; &lt;300 ms target</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t>Checklist- Updated on Public GitHub</a:t>
            </a:r>
          </a:p>
        </p:txBody>
      </p:sp>
      <p:sp>
        <p:nvSpPr>
          <p:cNvPr id="3" name="Rounded Rectangle 2"/>
          <p:cNvSpPr/>
          <p:nvPr/>
        </p:nvSpPr>
        <p:spPr>
          <a:xfrm>
            <a:off x="822960" y="1828800"/>
            <a:ext cx="10058400" cy="4160520"/>
          </a:xfrm>
          <a:prstGeom prst="roundRect">
            <a:avLst/>
          </a:prstGeom>
          <a:solidFill>
            <a:srgbClr val="FFFFFF"/>
          </a:solidFill>
          <a:ln w="12700">
            <a:solidFill>
              <a:srgbClr val="DCDFE6"/>
            </a:solidFill>
          </a:ln>
        </p:spPr>
        <p:style>
          <a:lnRef idx="1">
            <a:schemeClr val="accent1"/>
          </a:lnRef>
          <a:fillRef idx="3">
            <a:schemeClr val="accent1"/>
          </a:fillRef>
          <a:effectRef idx="2">
            <a:schemeClr val="accent1"/>
          </a:effectRef>
          <a:fontRef idx="minor">
            <a:schemeClr val="lt1"/>
          </a:fontRef>
        </p:style>
        <p:txBody>
          <a:bodyPr wrap="square" lIns="201168" tIns="164592" rIns="164592" bIns="109728" rtlCol="0" anchor="ctr"/>
          <a:lstStyle/>
          <a:p>
            <a:pPr algn="ctr">
              <a:defRPr sz="1600" b="1">
                <a:solidFill>
                  <a:srgbClr val="394CBE"/>
                </a:solidFill>
                <a:latin typeface="Aptos"/>
              </a:defRPr>
            </a:pPr>
            <a:r>
              <a:rPr dirty="0"/>
              <a:t>MANDATORY SUBMISSION REQUIREMENTS</a:t>
            </a:r>
          </a:p>
          <a:p>
            <a:pPr>
              <a:spcBef>
                <a:spcPts val="500"/>
              </a:spcBef>
              <a:defRPr sz="1400">
                <a:solidFill>
                  <a:srgbClr val="232837"/>
                </a:solidFill>
                <a:latin typeface="Aptos"/>
              </a:defRPr>
            </a:pPr>
            <a:r>
              <a:rPr dirty="0"/>
              <a:t>• Working prototype code — YES</a:t>
            </a:r>
          </a:p>
          <a:p>
            <a:pPr>
              <a:spcBef>
                <a:spcPts val="500"/>
              </a:spcBef>
              <a:defRPr sz="1400">
                <a:solidFill>
                  <a:srgbClr val="232837"/>
                </a:solidFill>
                <a:latin typeface="Aptos"/>
              </a:defRPr>
            </a:pPr>
            <a:r>
              <a:rPr dirty="0"/>
              <a:t>• README with reproducible setup instructions — YES</a:t>
            </a:r>
          </a:p>
          <a:p>
            <a:pPr>
              <a:spcBef>
                <a:spcPts val="500"/>
              </a:spcBef>
              <a:defRPr sz="1400">
                <a:solidFill>
                  <a:srgbClr val="232837"/>
                </a:solidFill>
                <a:latin typeface="Aptos"/>
              </a:defRPr>
            </a:pPr>
            <a:r>
              <a:rPr dirty="0"/>
              <a:t>• Demo video (max 5 minutes; YouTube/Drive link) —</a:t>
            </a:r>
            <a:r>
              <a:rPr lang="en-US" dirty="0"/>
              <a:t>YES</a:t>
            </a:r>
          </a:p>
          <a:p>
            <a:pPr>
              <a:spcBef>
                <a:spcPts val="500"/>
              </a:spcBef>
              <a:defRPr sz="1400">
                <a:solidFill>
                  <a:srgbClr val="232837"/>
                </a:solidFill>
                <a:latin typeface="Aptos"/>
              </a:defRPr>
            </a:pPr>
            <a:r>
              <a:rPr dirty="0"/>
              <a:t>• Presentation file (PPT or PDF) — YES / THIS DECK</a:t>
            </a:r>
          </a:p>
          <a:p>
            <a:pPr>
              <a:spcBef>
                <a:spcPts val="500"/>
              </a:spcBef>
              <a:defRPr sz="1400">
                <a:solidFill>
                  <a:srgbClr val="232837"/>
                </a:solidFill>
                <a:latin typeface="Aptos"/>
              </a:defRPr>
            </a:pPr>
            <a:r>
              <a:rPr dirty="0"/>
              <a:t>• AI Disclosure Form — </a:t>
            </a:r>
            <a:r>
              <a:rPr lang="en-US" dirty="0"/>
              <a:t>YES</a:t>
            </a:r>
            <a:endParaRPr dirty="0"/>
          </a:p>
          <a:p>
            <a:pPr>
              <a:spcBef>
                <a:spcPts val="500"/>
              </a:spcBef>
              <a:defRPr sz="1400">
                <a:solidFill>
                  <a:srgbClr val="232837"/>
                </a:solidFill>
                <a:latin typeface="Aptos"/>
              </a:defRPr>
            </a:pPr>
            <a:r>
              <a:rPr dirty="0"/>
              <a:t>• Final Google Form submission — </a:t>
            </a:r>
            <a:r>
              <a:rPr lang="en-US" dirty="0"/>
              <a:t>YES</a:t>
            </a:r>
            <a:endParaRPr dirty="0"/>
          </a:p>
          <a:p>
            <a:pPr>
              <a:spcBef>
                <a:spcPts val="500"/>
              </a:spcBef>
              <a:defRPr sz="1400">
                <a:solidFill>
                  <a:srgbClr val="232837"/>
                </a:solidFill>
                <a:latin typeface="Aptos"/>
              </a:defRPr>
            </a:pPr>
            <a:endParaRPr dirty="0"/>
          </a:p>
          <a:p>
            <a:pPr>
              <a:spcBef>
                <a:spcPts val="500"/>
              </a:spcBef>
              <a:defRPr sz="1400">
                <a:solidFill>
                  <a:srgbClr val="232837"/>
                </a:solidFill>
                <a:latin typeface="Aptos"/>
              </a:defRPr>
            </a:pPr>
            <a:r>
              <a:rPr dirty="0"/>
              <a:t>GitHub: github.com/Atharv-hub-lab/</a:t>
            </a:r>
            <a:r>
              <a:rPr dirty="0" err="1"/>
              <a:t>tapfix</a:t>
            </a:r>
            <a:endParaRPr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109728" tIns="73152" rIns="109728" bIns="73152" rtlCol="0" anchor="t"/>
          <a:lstStyle/>
          <a:p>
            <a:pPr marL="0" indent="0">
              <a:buNone/>
              <a:defRPr sz="2800" b="1">
                <a:solidFill>
                  <a:srgbClr val="232837"/>
                </a:solidFill>
                <a:latin typeface="Aptos"/>
              </a:defRPr>
            </a:pPr>
            <a: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777240" y="2057400"/>
            <a:ext cx="9601200" cy="1280160"/>
          </a:xfrm>
          <a:prstGeom prst="rect">
            <a:avLst/>
          </a:prstGeom>
          <a:noFill/>
          <a:ln>
            <a:noFill/>
          </a:ln>
        </p:spPr>
        <p:txBody>
          <a:bodyPr wrap="square" lIns="109728" tIns="73152" rIns="109728" bIns="73152" anchor="t">
            <a:spAutoFit/>
          </a:bodyPr>
          <a:lstStyle/>
          <a:p>
            <a:pPr algn="ctr">
              <a:defRPr sz="1700" b="0">
                <a:solidFill>
                  <a:srgbClr val="232837"/>
                </a:solidFill>
                <a:latin typeface="Aptos"/>
              </a:defRPr>
            </a:pPr>
            <a:r>
              <a:t>TapFix — Smart Guided Troubleshooting Engine</a:t>
            </a:r>
            <a:br/>
            <a:r>
              <a:t>Theme 02 — Smart Guided Troubleshooting Engine</a:t>
            </a:r>
            <a:br/>
            <a:r>
              <a:t>Team 404 Found | MS Ramaiah Institute of Technology (MSRIT), Bengaluru</a:t>
            </a:r>
            <a:br/>
            <a:r>
              <a:t>Atharv Mishra • Revanth Reddy</a:t>
            </a:r>
            <a:br/>
            <a:r>
              <a:t>GitHub: github.com/Atharv-hub-lab/tapfix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66</TotalTime>
  <Words>1179</Words>
  <Application>Microsoft Office PowerPoint</Application>
  <PresentationFormat>Widescreen</PresentationFormat>
  <Paragraphs>174</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Atharv Mishra</cp:lastModifiedBy>
  <cp:revision>7</cp:revision>
  <dcterms:created xsi:type="dcterms:W3CDTF">2026-09-07T12:01:01Z</dcterms:created>
  <dcterms:modified xsi:type="dcterms:W3CDTF">2026-09-28T13:48:28Z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